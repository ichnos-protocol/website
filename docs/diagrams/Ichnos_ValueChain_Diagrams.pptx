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775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chain per EU Battery Regulation 2023/1542. Primary path solid blue; second life &amp; remanufacturing dashed green; document flows dotted orange to notified body. Editable natively - all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Ichnos role band. Stage 2 highlighted = core competence. Three service rows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EU Battery Passport value chain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supplier is passport-ready once its digital twin carries the necessary data, aggregated by the pack manufacturer.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778240" y="338328"/>
            <a:ext cx="320040" cy="0"/>
          </a:xfrm>
          <a:prstGeom prst="line">
            <a:avLst/>
          </a:prstGeom>
          <a:noFill/>
          <a:ln w="27940">
            <a:solidFill>
              <a:srgbClr val="0F7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62288" y="2286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path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778240" y="612648"/>
            <a:ext cx="320040" cy="0"/>
          </a:xfrm>
          <a:prstGeom prst="line">
            <a:avLst/>
          </a:prstGeom>
          <a:noFill/>
          <a:ln w="27940">
            <a:solidFill>
              <a:srgbClr val="B3CB2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62288" y="502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path 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778240" y="886968"/>
            <a:ext cx="320040" cy="0"/>
          </a:xfrm>
          <a:prstGeom prst="line">
            <a:avLst/>
          </a:prstGeom>
          <a:noFill/>
          <a:ln w="27940">
            <a:solidFill>
              <a:srgbClr val="FFA600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62288" y="7772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and verification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58529" y="1654544"/>
            <a:ext cx="1170432" cy="384048"/>
          </a:xfrm>
          <a:prstGeom prst="roundRect">
            <a:avLst>
              <a:gd name="adj" fmla="val 14286"/>
            </a:avLst>
          </a:prstGeom>
          <a:solidFill>
            <a:srgbClr val="EAF1FE"/>
          </a:solidFill>
          <a:ln w="952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58529" y="1663169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Electrode sheet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964520" y="1188720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EAF1FE"/>
          </a:solidFill>
          <a:ln w="952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64520" y="11887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Electrolyte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84714" y="118872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1FE"/>
          </a:solidFill>
          <a:ln w="952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07076" y="11887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housing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08192" y="1197863"/>
            <a:ext cx="1298448" cy="384048"/>
          </a:xfrm>
          <a:prstGeom prst="roundRect">
            <a:avLst>
              <a:gd name="adj" fmla="val 14286"/>
            </a:avLst>
          </a:prstGeom>
          <a:solidFill>
            <a:srgbClr val="EAF1FE"/>
          </a:solidFill>
          <a:ln w="952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118872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components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06084" y="118872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EAF1FE"/>
          </a:solidFill>
          <a:ln w="952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06084" y="11887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Electronics,</a:t>
            </a:r>
            <a:b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 components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477559" y="1188720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EAF1FE"/>
          </a:solidFill>
          <a:ln w="9525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77559" y="11887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housing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2212848"/>
            <a:ext cx="84124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3970">
            <a:solidFill>
              <a:srgbClr val="0F7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212848"/>
            <a:ext cx="841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 / raw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207008" y="2496312"/>
            <a:ext cx="100584" cy="0"/>
          </a:xfrm>
          <a:prstGeom prst="line">
            <a:avLst/>
          </a:prstGeom>
          <a:noFill/>
          <a:ln w="20320">
            <a:solidFill>
              <a:srgbClr val="0F71C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07592" y="2212848"/>
            <a:ext cx="102412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3970">
            <a:solidFill>
              <a:srgbClr val="0F7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307592" y="2212848"/>
            <a:ext cx="102412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Precursor &amp; CAM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331720" y="2496312"/>
            <a:ext cx="100584" cy="0"/>
          </a:xfrm>
          <a:prstGeom prst="line">
            <a:avLst/>
          </a:prstGeom>
          <a:noFill/>
          <a:ln w="20320">
            <a:solidFill>
              <a:srgbClr val="0F71C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432304" y="2212848"/>
            <a:ext cx="7315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3970">
            <a:solidFill>
              <a:srgbClr val="0F7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432304" y="2212848"/>
            <a:ext cx="7315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Electrode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163824" y="2496312"/>
            <a:ext cx="100584" cy="0"/>
          </a:xfrm>
          <a:prstGeom prst="line">
            <a:avLst/>
          </a:prstGeom>
          <a:noFill/>
          <a:ln w="20320">
            <a:solidFill>
              <a:srgbClr val="0F71C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64408" y="2212848"/>
            <a:ext cx="65836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3970">
            <a:solidFill>
              <a:srgbClr val="0F7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64408" y="2212848"/>
            <a:ext cx="65836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cell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922776" y="2496312"/>
            <a:ext cx="100584" cy="0"/>
          </a:xfrm>
          <a:prstGeom prst="line">
            <a:avLst/>
          </a:prstGeom>
          <a:noFill/>
          <a:ln w="20320">
            <a:solidFill>
              <a:srgbClr val="0F71C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023360" y="2212848"/>
            <a:ext cx="859536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3970">
            <a:solidFill>
              <a:srgbClr val="0F7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023360" y="2212848"/>
            <a:ext cx="8595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Activated cell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82896" y="2496312"/>
            <a:ext cx="100584" cy="0"/>
          </a:xfrm>
          <a:prstGeom prst="line">
            <a:avLst/>
          </a:prstGeom>
          <a:noFill/>
          <a:ln w="20320">
            <a:solidFill>
              <a:srgbClr val="0F71C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983480" y="2212848"/>
            <a:ext cx="89611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3970">
            <a:solidFill>
              <a:srgbClr val="0F7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83480" y="2212848"/>
            <a:ext cx="89611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module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879592" y="2496312"/>
            <a:ext cx="133892" cy="0"/>
          </a:xfrm>
          <a:prstGeom prst="line">
            <a:avLst/>
          </a:prstGeom>
          <a:noFill/>
          <a:ln w="20320">
            <a:solidFill>
              <a:srgbClr val="0F71C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980176" y="2212848"/>
            <a:ext cx="914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pack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167407" y="3114523"/>
            <a:ext cx="1298448" cy="365760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3970">
            <a:solidFill>
              <a:srgbClr val="B3CB2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167404" y="3114523"/>
            <a:ext cx="129844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Repurposing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(2nd life)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8746" y="4027982"/>
            <a:ext cx="749808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3970">
            <a:solidFill>
              <a:srgbClr val="0F7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437891" y="4152023"/>
            <a:ext cx="749808" cy="3039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Recycling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307592" y="258579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F7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184659" y="3519447"/>
            <a:ext cx="129844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B3CB2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176549" y="3501159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Remanufacturing</a:t>
            </a:r>
            <a:endParaRPr lang="en-US" sz="850" dirty="0"/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6139AD48-6AE9-239F-CB79-6F4F5A7092C0}"/>
              </a:ext>
            </a:extLst>
          </p:cNvPr>
          <p:cNvGrpSpPr/>
          <p:nvPr/>
        </p:nvGrpSpPr>
        <p:grpSpPr>
          <a:xfrm>
            <a:off x="1708233" y="3114820"/>
            <a:ext cx="530352" cy="530352"/>
            <a:chOff x="1234440" y="3310128"/>
            <a:chExt cx="530352" cy="530352"/>
          </a:xfrm>
        </p:grpSpPr>
        <p:sp>
          <p:nvSpPr>
            <p:cNvPr id="62" name="Shape 60"/>
            <p:cNvSpPr/>
            <p:nvPr/>
          </p:nvSpPr>
          <p:spPr>
            <a:xfrm>
              <a:off x="1234440" y="3310128"/>
              <a:ext cx="310896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A6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Shape 61"/>
            <p:cNvSpPr/>
            <p:nvPr/>
          </p:nvSpPr>
          <p:spPr>
            <a:xfrm>
              <a:off x="1280160" y="3401568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Shape 62"/>
            <p:cNvSpPr/>
            <p:nvPr/>
          </p:nvSpPr>
          <p:spPr>
            <a:xfrm>
              <a:off x="1280160" y="3493008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Shape 63"/>
            <p:cNvSpPr/>
            <p:nvPr/>
          </p:nvSpPr>
          <p:spPr>
            <a:xfrm>
              <a:off x="1280160" y="3584448"/>
              <a:ext cx="146304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Shape 64"/>
            <p:cNvSpPr/>
            <p:nvPr/>
          </p:nvSpPr>
          <p:spPr>
            <a:xfrm>
              <a:off x="1344168" y="3383280"/>
              <a:ext cx="310896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3CB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Shape 65"/>
            <p:cNvSpPr/>
            <p:nvPr/>
          </p:nvSpPr>
          <p:spPr>
            <a:xfrm>
              <a:off x="1389888" y="3474720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Shape 66"/>
            <p:cNvSpPr/>
            <p:nvPr/>
          </p:nvSpPr>
          <p:spPr>
            <a:xfrm>
              <a:off x="1389888" y="3566160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Shape 67"/>
            <p:cNvSpPr/>
            <p:nvPr/>
          </p:nvSpPr>
          <p:spPr>
            <a:xfrm>
              <a:off x="1389888" y="3657600"/>
              <a:ext cx="146304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Shape 68"/>
            <p:cNvSpPr/>
            <p:nvPr/>
          </p:nvSpPr>
          <p:spPr>
            <a:xfrm>
              <a:off x="1453896" y="3456432"/>
              <a:ext cx="310896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F71C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Shape 69"/>
            <p:cNvSpPr/>
            <p:nvPr/>
          </p:nvSpPr>
          <p:spPr>
            <a:xfrm>
              <a:off x="1499616" y="3547872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Shape 70"/>
            <p:cNvSpPr/>
            <p:nvPr/>
          </p:nvSpPr>
          <p:spPr>
            <a:xfrm>
              <a:off x="1499616" y="3639312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71"/>
            <p:cNvSpPr/>
            <p:nvPr/>
          </p:nvSpPr>
          <p:spPr>
            <a:xfrm>
              <a:off x="1499616" y="3730752"/>
              <a:ext cx="146304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7E284F8E-694C-8686-9F45-3284989A1EBF}"/>
              </a:ext>
            </a:extLst>
          </p:cNvPr>
          <p:cNvGrpSpPr/>
          <p:nvPr/>
        </p:nvGrpSpPr>
        <p:grpSpPr>
          <a:xfrm>
            <a:off x="2531985" y="3114401"/>
            <a:ext cx="530352" cy="530352"/>
            <a:chOff x="3977640" y="3310128"/>
            <a:chExt cx="530352" cy="530352"/>
          </a:xfrm>
        </p:grpSpPr>
        <p:sp>
          <p:nvSpPr>
            <p:cNvPr id="75" name="Shape 73"/>
            <p:cNvSpPr/>
            <p:nvPr/>
          </p:nvSpPr>
          <p:spPr>
            <a:xfrm>
              <a:off x="3977640" y="3310128"/>
              <a:ext cx="310896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A6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Shape 74"/>
            <p:cNvSpPr/>
            <p:nvPr/>
          </p:nvSpPr>
          <p:spPr>
            <a:xfrm>
              <a:off x="4023360" y="3401568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Shape 75"/>
            <p:cNvSpPr/>
            <p:nvPr/>
          </p:nvSpPr>
          <p:spPr>
            <a:xfrm>
              <a:off x="4023360" y="3493008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Shape 76"/>
            <p:cNvSpPr/>
            <p:nvPr/>
          </p:nvSpPr>
          <p:spPr>
            <a:xfrm>
              <a:off x="4023360" y="3584448"/>
              <a:ext cx="146304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Shape 77"/>
            <p:cNvSpPr/>
            <p:nvPr/>
          </p:nvSpPr>
          <p:spPr>
            <a:xfrm>
              <a:off x="4087368" y="3383280"/>
              <a:ext cx="310896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3CB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Shape 78"/>
            <p:cNvSpPr/>
            <p:nvPr/>
          </p:nvSpPr>
          <p:spPr>
            <a:xfrm>
              <a:off x="4133088" y="3474720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Shape 79"/>
            <p:cNvSpPr/>
            <p:nvPr/>
          </p:nvSpPr>
          <p:spPr>
            <a:xfrm>
              <a:off x="4133088" y="3566160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Shape 80"/>
            <p:cNvSpPr/>
            <p:nvPr/>
          </p:nvSpPr>
          <p:spPr>
            <a:xfrm>
              <a:off x="4133088" y="3657600"/>
              <a:ext cx="146304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Shape 81"/>
            <p:cNvSpPr/>
            <p:nvPr/>
          </p:nvSpPr>
          <p:spPr>
            <a:xfrm>
              <a:off x="4197096" y="3456432"/>
              <a:ext cx="310896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F71C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Shape 82"/>
            <p:cNvSpPr/>
            <p:nvPr/>
          </p:nvSpPr>
          <p:spPr>
            <a:xfrm>
              <a:off x="4242816" y="3547872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Shape 83"/>
            <p:cNvSpPr/>
            <p:nvPr/>
          </p:nvSpPr>
          <p:spPr>
            <a:xfrm>
              <a:off x="4242816" y="3639312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Shape 84"/>
            <p:cNvSpPr/>
            <p:nvPr/>
          </p:nvSpPr>
          <p:spPr>
            <a:xfrm>
              <a:off x="4242816" y="3730752"/>
              <a:ext cx="146304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1A5E0571-D5D4-72D4-FE43-EA66F9EE4255}"/>
              </a:ext>
            </a:extLst>
          </p:cNvPr>
          <p:cNvGrpSpPr/>
          <p:nvPr/>
        </p:nvGrpSpPr>
        <p:grpSpPr>
          <a:xfrm>
            <a:off x="4726915" y="3114817"/>
            <a:ext cx="530352" cy="530352"/>
            <a:chOff x="5623560" y="3310128"/>
            <a:chExt cx="530352" cy="530352"/>
          </a:xfrm>
        </p:grpSpPr>
        <p:sp>
          <p:nvSpPr>
            <p:cNvPr id="88" name="Shape 86"/>
            <p:cNvSpPr/>
            <p:nvPr/>
          </p:nvSpPr>
          <p:spPr>
            <a:xfrm>
              <a:off x="5623560" y="3310128"/>
              <a:ext cx="310896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A6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Shape 87"/>
            <p:cNvSpPr/>
            <p:nvPr/>
          </p:nvSpPr>
          <p:spPr>
            <a:xfrm>
              <a:off x="5669280" y="3401568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Shape 88"/>
            <p:cNvSpPr/>
            <p:nvPr/>
          </p:nvSpPr>
          <p:spPr>
            <a:xfrm>
              <a:off x="5669280" y="3493008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Shape 89"/>
            <p:cNvSpPr/>
            <p:nvPr/>
          </p:nvSpPr>
          <p:spPr>
            <a:xfrm>
              <a:off x="5669280" y="3584448"/>
              <a:ext cx="146304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Shape 90"/>
            <p:cNvSpPr/>
            <p:nvPr/>
          </p:nvSpPr>
          <p:spPr>
            <a:xfrm>
              <a:off x="5733288" y="3383280"/>
              <a:ext cx="310896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3CB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Shape 91"/>
            <p:cNvSpPr/>
            <p:nvPr/>
          </p:nvSpPr>
          <p:spPr>
            <a:xfrm>
              <a:off x="5779008" y="3474720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Shape 92"/>
            <p:cNvSpPr/>
            <p:nvPr/>
          </p:nvSpPr>
          <p:spPr>
            <a:xfrm>
              <a:off x="5779008" y="3566160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Shape 93"/>
            <p:cNvSpPr/>
            <p:nvPr/>
          </p:nvSpPr>
          <p:spPr>
            <a:xfrm>
              <a:off x="5779008" y="3657600"/>
              <a:ext cx="146304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Shape 94"/>
            <p:cNvSpPr/>
            <p:nvPr/>
          </p:nvSpPr>
          <p:spPr>
            <a:xfrm>
              <a:off x="5843016" y="3456432"/>
              <a:ext cx="310896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F71C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Shape 95"/>
            <p:cNvSpPr/>
            <p:nvPr/>
          </p:nvSpPr>
          <p:spPr>
            <a:xfrm>
              <a:off x="5888736" y="3547872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Shape 96"/>
            <p:cNvSpPr/>
            <p:nvPr/>
          </p:nvSpPr>
          <p:spPr>
            <a:xfrm>
              <a:off x="5888736" y="3639312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Shape 97"/>
            <p:cNvSpPr/>
            <p:nvPr/>
          </p:nvSpPr>
          <p:spPr>
            <a:xfrm>
              <a:off x="5888736" y="3730752"/>
              <a:ext cx="146304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1" name="Shape 99"/>
          <p:cNvSpPr/>
          <p:nvPr/>
        </p:nvSpPr>
        <p:spPr>
          <a:xfrm>
            <a:off x="936596" y="3852089"/>
            <a:ext cx="5790865" cy="321480"/>
          </a:xfrm>
          <a:prstGeom prst="roundRect">
            <a:avLst>
              <a:gd name="adj" fmla="val 12903"/>
            </a:avLst>
          </a:prstGeom>
          <a:solidFill>
            <a:srgbClr val="FAFBFC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1119476" y="3852089"/>
            <a:ext cx="5607985" cy="32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Notified body: </a:t>
            </a: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verification of carbon footprint, recycled content and due diligence</a:t>
            </a:r>
            <a:endParaRPr lang="en-US" sz="1050" dirty="0"/>
          </a:p>
        </p:txBody>
      </p:sp>
      <p:sp>
        <p:nvSpPr>
          <p:cNvPr id="103" name="Shape 101"/>
          <p:cNvSpPr/>
          <p:nvPr/>
        </p:nvSpPr>
        <p:spPr>
          <a:xfrm>
            <a:off x="6013484" y="2212848"/>
            <a:ext cx="1836554" cy="566927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10">
            <a:solidFill>
              <a:srgbClr val="0F7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6104924" y="2212848"/>
            <a:ext cx="1745114" cy="566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pack manufacturer </a:t>
            </a: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9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operator</a:t>
            </a: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transmits the passport dataset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7850038" y="2514944"/>
            <a:ext cx="150961" cy="0"/>
          </a:xfrm>
          <a:prstGeom prst="line">
            <a:avLst/>
          </a:prstGeom>
          <a:noFill/>
          <a:ln w="20320">
            <a:solidFill>
              <a:srgbClr val="0F71C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7946618" y="2210604"/>
            <a:ext cx="2093975" cy="603504"/>
          </a:xfrm>
          <a:prstGeom prst="roundRect">
            <a:avLst>
              <a:gd name="adj" fmla="val 12121"/>
            </a:avLst>
          </a:prstGeom>
          <a:solidFill>
            <a:srgbClr val="EAF1FE"/>
          </a:solidFill>
          <a:ln w="13970">
            <a:solidFill>
              <a:srgbClr val="0F7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8038058" y="2210604"/>
            <a:ext cx="195201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passport service provider </a:t>
            </a: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(publisher)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 flipV="1">
            <a:off x="10044195" y="2514943"/>
            <a:ext cx="114236" cy="0"/>
          </a:xfrm>
          <a:prstGeom prst="line">
            <a:avLst/>
          </a:prstGeom>
          <a:noFill/>
          <a:ln w="20320">
            <a:solidFill>
              <a:srgbClr val="0F71C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10158431" y="2210604"/>
            <a:ext cx="1534639" cy="603504"/>
          </a:xfrm>
          <a:prstGeom prst="roundRect">
            <a:avLst>
              <a:gd name="adj" fmla="val 12121"/>
            </a:avLst>
          </a:prstGeom>
          <a:solidFill>
            <a:srgbClr val="0F71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10251887" y="2210604"/>
            <a:ext cx="151220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system: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passport via QR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457200" y="4892040"/>
            <a:ext cx="11247120" cy="969264"/>
          </a:xfrm>
          <a:prstGeom prst="roundRect">
            <a:avLst>
              <a:gd name="adj" fmla="val 9434"/>
            </a:avLst>
          </a:prstGeom>
          <a:solidFill>
            <a:srgbClr val="EAF1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777240" y="4974336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component supplier manages its </a:t>
            </a:r>
            <a:r>
              <a:rPr lang="en-US" sz="13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contributes to the passport with </a:t>
            </a:r>
            <a:r>
              <a:rPr lang="en-US" sz="13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Footprint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Diligence Report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Recycled Material Content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your data is in the network, </a:t>
            </a: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ready to connect to every customer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keeping your </a:t>
            </a: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(one-up / one-down visibility).</a:t>
            </a:r>
            <a:endParaRPr lang="en-US" sz="1300" dirty="0"/>
          </a:p>
        </p:txBody>
      </p:sp>
      <p:sp>
        <p:nvSpPr>
          <p:cNvPr id="113" name="Text 111"/>
          <p:cNvSpPr/>
          <p:nvPr/>
        </p:nvSpPr>
        <p:spPr>
          <a:xfrm>
            <a:off x="457200" y="60533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rails: Catena-X digital twins &amp; connectors · Dates: Regulation (EU) 2023/1542 as amended (due diligence: 18 Aug 2027 per Reg. (EU) 2025/1561)</a:t>
            </a:r>
            <a:endParaRPr lang="en-US" sz="900" dirty="0"/>
          </a:p>
        </p:txBody>
      </p: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C8CD0D86-A04A-E483-DCDC-F0B9FB0C0FF9}"/>
              </a:ext>
            </a:extLst>
          </p:cNvPr>
          <p:cNvCxnSpPr>
            <a:cxnSpLocks/>
            <a:stCxn id="10" idx="3"/>
            <a:endCxn id="28" idx="0"/>
          </p:cNvCxnSpPr>
          <p:nvPr/>
        </p:nvCxnSpPr>
        <p:spPr>
          <a:xfrm>
            <a:off x="2328961" y="1846568"/>
            <a:ext cx="469103" cy="366280"/>
          </a:xfrm>
          <a:prstGeom prst="bentConnector2">
            <a:avLst/>
          </a:prstGeom>
          <a:noFill/>
          <a:ln w="12700">
            <a:solidFill>
              <a:srgbClr val="DCDCDC"/>
            </a:solidFill>
            <a:prstDash val="solid"/>
            <a:tailEnd type="triangle"/>
          </a:ln>
        </p:spPr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C9C5A3FC-5D09-823D-D690-714BA0A9AFFB}"/>
              </a:ext>
            </a:extLst>
          </p:cNvPr>
          <p:cNvCxnSpPr>
            <a:cxnSpLocks/>
            <a:stCxn id="14" idx="3"/>
            <a:endCxn id="31" idx="0"/>
          </p:cNvCxnSpPr>
          <p:nvPr/>
        </p:nvCxnSpPr>
        <p:spPr>
          <a:xfrm>
            <a:off x="2936274" y="1380744"/>
            <a:ext cx="657318" cy="832104"/>
          </a:xfrm>
          <a:prstGeom prst="bentConnector2">
            <a:avLst/>
          </a:prstGeom>
          <a:noFill/>
          <a:ln w="12700">
            <a:solidFill>
              <a:srgbClr val="DCDCDC"/>
            </a:solidFill>
            <a:prstDash val="solid"/>
            <a:tailEnd type="triangle"/>
          </a:ln>
        </p:spPr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D4A01582-6013-28A2-5E23-2334DB70BCB9}"/>
              </a:ext>
            </a:extLst>
          </p:cNvPr>
          <p:cNvCxnSpPr>
            <a:stCxn id="13" idx="2"/>
            <a:endCxn id="34" idx="0"/>
          </p:cNvCxnSpPr>
          <p:nvPr/>
        </p:nvCxnSpPr>
        <p:spPr>
          <a:xfrm>
            <a:off x="4444580" y="1572768"/>
            <a:ext cx="8548" cy="640080"/>
          </a:xfrm>
          <a:prstGeom prst="straightConnector1">
            <a:avLst/>
          </a:prstGeom>
          <a:noFill/>
          <a:ln w="12700">
            <a:solidFill>
              <a:srgbClr val="DCDCDC"/>
            </a:solidFill>
            <a:prstDash val="solid"/>
            <a:tailEnd type="triangle"/>
          </a:ln>
        </p:spPr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D157BA23-8FF0-F996-5A79-A0610613D88D}"/>
              </a:ext>
            </a:extLst>
          </p:cNvPr>
          <p:cNvCxnSpPr>
            <a:cxnSpLocks/>
            <a:stCxn id="19" idx="2"/>
            <a:endCxn id="41" idx="0"/>
          </p:cNvCxnSpPr>
          <p:nvPr/>
        </p:nvCxnSpPr>
        <p:spPr>
          <a:xfrm rot="16200000" flipH="1">
            <a:off x="5664580" y="1440052"/>
            <a:ext cx="640080" cy="905512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DCDCDC"/>
            </a:solidFill>
            <a:prstDash val="solid"/>
            <a:tailEnd type="triangle"/>
          </a:ln>
        </p:spPr>
      </p:cxn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3676513E-13BE-A674-45D6-3088221EC7AD}"/>
              </a:ext>
            </a:extLst>
          </p:cNvPr>
          <p:cNvCxnSpPr>
            <a:cxnSpLocks/>
            <a:stCxn id="17" idx="2"/>
          </p:cNvCxnSpPr>
          <p:nvPr/>
        </p:nvCxnSpPr>
        <p:spPr>
          <a:xfrm rot="5400000">
            <a:off x="6286500" y="1723644"/>
            <a:ext cx="640080" cy="338328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DCDCDC"/>
            </a:solidFill>
            <a:prstDash val="solid"/>
            <a:tailEnd type="triangle"/>
          </a:ln>
        </p:spPr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BDBCB43A-B4F9-DE80-7D6D-80C767CC0247}"/>
              </a:ext>
            </a:extLst>
          </p:cNvPr>
          <p:cNvCxnSpPr>
            <a:cxnSpLocks/>
            <a:stCxn id="21" idx="2"/>
          </p:cNvCxnSpPr>
          <p:nvPr/>
        </p:nvCxnSpPr>
        <p:spPr>
          <a:xfrm rot="5400000">
            <a:off x="6923178" y="1086967"/>
            <a:ext cx="640080" cy="1611683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DCDCDC"/>
            </a:solidFill>
            <a:prstDash val="solid"/>
            <a:tailEnd type="triangle"/>
          </a:ln>
        </p:spPr>
      </p:cxnSp>
      <p:sp>
        <p:nvSpPr>
          <p:cNvPr id="136" name="Text 53">
            <a:extLst>
              <a:ext uri="{FF2B5EF4-FFF2-40B4-BE49-F238E27FC236}">
                <a16:creationId xmlns:a16="http://schemas.microsoft.com/office/drawing/2014/main" id="{4958D8C2-E5EC-7044-14BA-508A524CD200}"/>
              </a:ext>
            </a:extLst>
          </p:cNvPr>
          <p:cNvSpPr/>
          <p:nvPr/>
        </p:nvSpPr>
        <p:spPr>
          <a:xfrm>
            <a:off x="3145536" y="257860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F7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part</a:t>
            </a:r>
            <a:endParaRPr lang="en-US" sz="750" dirty="0"/>
          </a:p>
        </p:txBody>
      </p:sp>
      <p:sp>
        <p:nvSpPr>
          <p:cNvPr id="138" name="Text 53">
            <a:extLst>
              <a:ext uri="{FF2B5EF4-FFF2-40B4-BE49-F238E27FC236}">
                <a16:creationId xmlns:a16="http://schemas.microsoft.com/office/drawing/2014/main" id="{105E0D79-5330-F82C-8112-2136D85E62DA}"/>
              </a:ext>
            </a:extLst>
          </p:cNvPr>
          <p:cNvSpPr/>
          <p:nvPr/>
        </p:nvSpPr>
        <p:spPr>
          <a:xfrm>
            <a:off x="4014812" y="2575042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F7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part</a:t>
            </a:r>
            <a:endParaRPr lang="en-US" sz="750" dirty="0"/>
          </a:p>
        </p:txBody>
      </p:sp>
      <p:sp>
        <p:nvSpPr>
          <p:cNvPr id="140" name="Text 53">
            <a:extLst>
              <a:ext uri="{FF2B5EF4-FFF2-40B4-BE49-F238E27FC236}">
                <a16:creationId xmlns:a16="http://schemas.microsoft.com/office/drawing/2014/main" id="{94519E11-E16A-F64F-60EF-3F34B43920F4}"/>
              </a:ext>
            </a:extLst>
          </p:cNvPr>
          <p:cNvSpPr/>
          <p:nvPr/>
        </p:nvSpPr>
        <p:spPr>
          <a:xfrm>
            <a:off x="4946905" y="2575042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F7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part</a:t>
            </a:r>
            <a:endParaRPr lang="en-US" sz="750" dirty="0"/>
          </a:p>
        </p:txBody>
      </p:sp>
      <p:cxnSp>
        <p:nvCxnSpPr>
          <p:cNvPr id="143" name="Connector: Elbow 142">
            <a:extLst>
              <a:ext uri="{FF2B5EF4-FFF2-40B4-BE49-F238E27FC236}">
                <a16:creationId xmlns:a16="http://schemas.microsoft.com/office/drawing/2014/main" id="{978F3C5F-3AC8-0848-8B7A-A76579B6EBE2}"/>
              </a:ext>
            </a:extLst>
          </p:cNvPr>
          <p:cNvCxnSpPr>
            <a:cxnSpLocks/>
            <a:stCxn id="37" idx="2"/>
            <a:endCxn id="58" idx="1"/>
          </p:cNvCxnSpPr>
          <p:nvPr/>
        </p:nvCxnSpPr>
        <p:spPr>
          <a:xfrm rot="16200000" flipH="1">
            <a:off x="5851911" y="2359400"/>
            <a:ext cx="904263" cy="1745013"/>
          </a:xfrm>
          <a:prstGeom prst="bentConnector2">
            <a:avLst/>
          </a:prstGeom>
          <a:noFill/>
          <a:ln w="16510">
            <a:solidFill>
              <a:srgbClr val="B3CB2D"/>
            </a:solidFill>
            <a:prstDash val="dash"/>
            <a:tailEnd type="triangle"/>
          </a:ln>
        </p:spPr>
      </p:cxn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67B77A12-A062-ABFF-FAA7-27D8B16ADB89}"/>
              </a:ext>
            </a:extLst>
          </p:cNvPr>
          <p:cNvCxnSpPr>
            <a:cxnSpLocks/>
            <a:stCxn id="104" idx="2"/>
            <a:endCxn id="58" idx="1"/>
          </p:cNvCxnSpPr>
          <p:nvPr/>
        </p:nvCxnSpPr>
        <p:spPr>
          <a:xfrm rot="16200000" flipH="1">
            <a:off x="6624883" y="3132373"/>
            <a:ext cx="904264" cy="199068"/>
          </a:xfrm>
          <a:prstGeom prst="bentConnector2">
            <a:avLst/>
          </a:prstGeom>
          <a:noFill/>
          <a:ln w="16510">
            <a:solidFill>
              <a:srgbClr val="B3CB2D"/>
            </a:solidFill>
            <a:prstDash val="dash"/>
            <a:tailEnd type="triangle"/>
          </a:ln>
        </p:spPr>
      </p:cxn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id="{E17769D5-0064-5056-99AB-725BBB7D32A2}"/>
              </a:ext>
            </a:extLst>
          </p:cNvPr>
          <p:cNvCxnSpPr>
            <a:cxnSpLocks/>
            <a:stCxn id="104" idx="2"/>
            <a:endCxn id="43" idx="1"/>
          </p:cNvCxnSpPr>
          <p:nvPr/>
        </p:nvCxnSpPr>
        <p:spPr>
          <a:xfrm rot="16200000" flipH="1">
            <a:off x="6813630" y="2943626"/>
            <a:ext cx="517628" cy="189926"/>
          </a:xfrm>
          <a:prstGeom prst="bentConnector2">
            <a:avLst/>
          </a:prstGeom>
          <a:noFill/>
          <a:ln w="16510">
            <a:solidFill>
              <a:srgbClr val="B3CB2D"/>
            </a:solidFill>
            <a:prstDash val="dash"/>
            <a:tailEnd type="triangle"/>
          </a:ln>
        </p:spPr>
      </p:cxnSp>
      <p:sp>
        <p:nvSpPr>
          <p:cNvPr id="175" name="Text 52">
            <a:extLst>
              <a:ext uri="{FF2B5EF4-FFF2-40B4-BE49-F238E27FC236}">
                <a16:creationId xmlns:a16="http://schemas.microsoft.com/office/drawing/2014/main" id="{E5B2CE98-9A82-3D41-E914-34293729ACD1}"/>
              </a:ext>
            </a:extLst>
          </p:cNvPr>
          <p:cNvSpPr/>
          <p:nvPr/>
        </p:nvSpPr>
        <p:spPr>
          <a:xfrm>
            <a:off x="270385" y="2596153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F7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</a:t>
            </a:r>
            <a:endParaRPr lang="en-US" sz="750" dirty="0"/>
          </a:p>
        </p:txBody>
      </p:sp>
      <p:sp>
        <p:nvSpPr>
          <p:cNvPr id="177" name="Text 52">
            <a:extLst>
              <a:ext uri="{FF2B5EF4-FFF2-40B4-BE49-F238E27FC236}">
                <a16:creationId xmlns:a16="http://schemas.microsoft.com/office/drawing/2014/main" id="{7EB3CC5E-D442-E924-A3FB-A42345EECFBD}"/>
              </a:ext>
            </a:extLst>
          </p:cNvPr>
          <p:cNvSpPr/>
          <p:nvPr/>
        </p:nvSpPr>
        <p:spPr>
          <a:xfrm>
            <a:off x="2304287" y="2596153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F7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</a:t>
            </a:r>
            <a:endParaRPr lang="en-US" sz="750" dirty="0"/>
          </a:p>
        </p:txBody>
      </p: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BC7ABBFF-EFAD-1119-4E6E-3042BACB74EC}"/>
              </a:ext>
            </a:extLst>
          </p:cNvPr>
          <p:cNvCxnSpPr>
            <a:cxnSpLocks/>
            <a:stCxn id="43" idx="3"/>
            <a:endCxn id="47" idx="3"/>
          </p:cNvCxnSpPr>
          <p:nvPr/>
        </p:nvCxnSpPr>
        <p:spPr>
          <a:xfrm flipH="1">
            <a:off x="8187699" y="3297403"/>
            <a:ext cx="278156" cy="1006618"/>
          </a:xfrm>
          <a:prstGeom prst="bentConnector3">
            <a:avLst>
              <a:gd name="adj1" fmla="val -82184"/>
            </a:avLst>
          </a:prstGeom>
          <a:noFill/>
          <a:ln w="16510">
            <a:solidFill>
              <a:srgbClr val="B3CB2D"/>
            </a:solidFill>
            <a:prstDash val="dash"/>
            <a:tailEnd type="triangle"/>
          </a:ln>
        </p:spPr>
      </p:cxnSp>
      <p:cxnSp>
        <p:nvCxnSpPr>
          <p:cNvPr id="181" name="Connector: Elbow 180">
            <a:extLst>
              <a:ext uri="{FF2B5EF4-FFF2-40B4-BE49-F238E27FC236}">
                <a16:creationId xmlns:a16="http://schemas.microsoft.com/office/drawing/2014/main" id="{25225184-505F-EBBD-E268-E75385F0506F}"/>
              </a:ext>
            </a:extLst>
          </p:cNvPr>
          <p:cNvCxnSpPr>
            <a:cxnSpLocks/>
            <a:stCxn id="57" idx="3"/>
            <a:endCxn id="47" idx="3"/>
          </p:cNvCxnSpPr>
          <p:nvPr/>
        </p:nvCxnSpPr>
        <p:spPr>
          <a:xfrm flipH="1">
            <a:off x="8187699" y="3702327"/>
            <a:ext cx="295408" cy="601694"/>
          </a:xfrm>
          <a:prstGeom prst="bentConnector3">
            <a:avLst>
              <a:gd name="adj1" fmla="val -77384"/>
            </a:avLst>
          </a:prstGeom>
          <a:noFill/>
          <a:ln w="16510">
            <a:solidFill>
              <a:srgbClr val="B3CB2D"/>
            </a:solidFill>
            <a:prstDash val="dash"/>
            <a:tailEnd type="triangle"/>
          </a:ln>
        </p:spPr>
      </p:cxn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CA5BA2A9-A8DF-4DE2-5FF8-CEC451ABFAFE}"/>
              </a:ext>
            </a:extLst>
          </p:cNvPr>
          <p:cNvCxnSpPr>
            <a:cxnSpLocks/>
            <a:stCxn id="37" idx="2"/>
            <a:endCxn id="88" idx="0"/>
          </p:cNvCxnSpPr>
          <p:nvPr/>
        </p:nvCxnSpPr>
        <p:spPr>
          <a:xfrm rot="5400000">
            <a:off x="4989430" y="2672710"/>
            <a:ext cx="335041" cy="549173"/>
          </a:xfrm>
          <a:prstGeom prst="bentConnector3">
            <a:avLst>
              <a:gd name="adj1" fmla="val 50000"/>
            </a:avLst>
          </a:prstGeom>
          <a:noFill/>
          <a:ln w="15240">
            <a:solidFill>
              <a:srgbClr val="FFA600"/>
            </a:solidFill>
            <a:prstDash val="sysDot"/>
            <a:tailEnd type="triangle"/>
          </a:ln>
        </p:spPr>
      </p:cxn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EFA0F55E-2241-2F76-4315-09BC0C41C45B}"/>
              </a:ext>
            </a:extLst>
          </p:cNvPr>
          <p:cNvGrpSpPr/>
          <p:nvPr/>
        </p:nvGrpSpPr>
        <p:grpSpPr>
          <a:xfrm>
            <a:off x="4081534" y="3114551"/>
            <a:ext cx="530352" cy="530352"/>
            <a:chOff x="5623560" y="3310128"/>
            <a:chExt cx="530352" cy="530352"/>
          </a:xfrm>
        </p:grpSpPr>
        <p:sp>
          <p:nvSpPr>
            <p:cNvPr id="189" name="Shape 86">
              <a:extLst>
                <a:ext uri="{FF2B5EF4-FFF2-40B4-BE49-F238E27FC236}">
                  <a16:creationId xmlns:a16="http://schemas.microsoft.com/office/drawing/2014/main" id="{3B6BCE51-6DEA-3288-5B92-FDE04C99FB50}"/>
                </a:ext>
              </a:extLst>
            </p:cNvPr>
            <p:cNvSpPr/>
            <p:nvPr/>
          </p:nvSpPr>
          <p:spPr>
            <a:xfrm>
              <a:off x="5623560" y="3310128"/>
              <a:ext cx="310896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A6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0" name="Shape 87">
              <a:extLst>
                <a:ext uri="{FF2B5EF4-FFF2-40B4-BE49-F238E27FC236}">
                  <a16:creationId xmlns:a16="http://schemas.microsoft.com/office/drawing/2014/main" id="{360B648E-8CC5-D749-C6F0-5F752FF2A2F6}"/>
                </a:ext>
              </a:extLst>
            </p:cNvPr>
            <p:cNvSpPr/>
            <p:nvPr/>
          </p:nvSpPr>
          <p:spPr>
            <a:xfrm>
              <a:off x="5669280" y="3401568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1" name="Shape 88">
              <a:extLst>
                <a:ext uri="{FF2B5EF4-FFF2-40B4-BE49-F238E27FC236}">
                  <a16:creationId xmlns:a16="http://schemas.microsoft.com/office/drawing/2014/main" id="{DB68C87B-2201-23DB-96A7-3F92B8C61FCD}"/>
                </a:ext>
              </a:extLst>
            </p:cNvPr>
            <p:cNvSpPr/>
            <p:nvPr/>
          </p:nvSpPr>
          <p:spPr>
            <a:xfrm>
              <a:off x="5669280" y="3493008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2" name="Shape 89">
              <a:extLst>
                <a:ext uri="{FF2B5EF4-FFF2-40B4-BE49-F238E27FC236}">
                  <a16:creationId xmlns:a16="http://schemas.microsoft.com/office/drawing/2014/main" id="{FC309764-6A8E-E2F0-2001-23C9A1D3CA98}"/>
                </a:ext>
              </a:extLst>
            </p:cNvPr>
            <p:cNvSpPr/>
            <p:nvPr/>
          </p:nvSpPr>
          <p:spPr>
            <a:xfrm>
              <a:off x="5669280" y="3584448"/>
              <a:ext cx="146304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3" name="Shape 90">
              <a:extLst>
                <a:ext uri="{FF2B5EF4-FFF2-40B4-BE49-F238E27FC236}">
                  <a16:creationId xmlns:a16="http://schemas.microsoft.com/office/drawing/2014/main" id="{8225A257-2B8E-7C5C-42D8-74849E99A4A9}"/>
                </a:ext>
              </a:extLst>
            </p:cNvPr>
            <p:cNvSpPr/>
            <p:nvPr/>
          </p:nvSpPr>
          <p:spPr>
            <a:xfrm>
              <a:off x="5733288" y="3383280"/>
              <a:ext cx="310896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3CB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Shape 91">
              <a:extLst>
                <a:ext uri="{FF2B5EF4-FFF2-40B4-BE49-F238E27FC236}">
                  <a16:creationId xmlns:a16="http://schemas.microsoft.com/office/drawing/2014/main" id="{56E7ABE9-F0F9-D1AA-F79E-428853B2721F}"/>
                </a:ext>
              </a:extLst>
            </p:cNvPr>
            <p:cNvSpPr/>
            <p:nvPr/>
          </p:nvSpPr>
          <p:spPr>
            <a:xfrm>
              <a:off x="5779008" y="3474720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" name="Shape 92">
              <a:extLst>
                <a:ext uri="{FF2B5EF4-FFF2-40B4-BE49-F238E27FC236}">
                  <a16:creationId xmlns:a16="http://schemas.microsoft.com/office/drawing/2014/main" id="{D4EC9B5C-13AE-F43A-5C1D-F6DFC5C23929}"/>
                </a:ext>
              </a:extLst>
            </p:cNvPr>
            <p:cNvSpPr/>
            <p:nvPr/>
          </p:nvSpPr>
          <p:spPr>
            <a:xfrm>
              <a:off x="5779008" y="3566160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" name="Shape 93">
              <a:extLst>
                <a:ext uri="{FF2B5EF4-FFF2-40B4-BE49-F238E27FC236}">
                  <a16:creationId xmlns:a16="http://schemas.microsoft.com/office/drawing/2014/main" id="{BBC71BB9-27C2-314B-38A4-09485CD5487E}"/>
                </a:ext>
              </a:extLst>
            </p:cNvPr>
            <p:cNvSpPr/>
            <p:nvPr/>
          </p:nvSpPr>
          <p:spPr>
            <a:xfrm>
              <a:off x="5779008" y="3657600"/>
              <a:ext cx="146304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Shape 94">
              <a:extLst>
                <a:ext uri="{FF2B5EF4-FFF2-40B4-BE49-F238E27FC236}">
                  <a16:creationId xmlns:a16="http://schemas.microsoft.com/office/drawing/2014/main" id="{260DB704-A9D0-9673-CD61-C642BD21E72F}"/>
                </a:ext>
              </a:extLst>
            </p:cNvPr>
            <p:cNvSpPr/>
            <p:nvPr/>
          </p:nvSpPr>
          <p:spPr>
            <a:xfrm>
              <a:off x="5843016" y="3456432"/>
              <a:ext cx="310896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F71C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8" name="Shape 95">
              <a:extLst>
                <a:ext uri="{FF2B5EF4-FFF2-40B4-BE49-F238E27FC236}">
                  <a16:creationId xmlns:a16="http://schemas.microsoft.com/office/drawing/2014/main" id="{C6991743-88E3-5232-6488-970B087A5480}"/>
                </a:ext>
              </a:extLst>
            </p:cNvPr>
            <p:cNvSpPr/>
            <p:nvPr/>
          </p:nvSpPr>
          <p:spPr>
            <a:xfrm>
              <a:off x="5888736" y="3547872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9" name="Shape 96">
              <a:extLst>
                <a:ext uri="{FF2B5EF4-FFF2-40B4-BE49-F238E27FC236}">
                  <a16:creationId xmlns:a16="http://schemas.microsoft.com/office/drawing/2014/main" id="{A74F090F-2E80-F214-8312-A6B4562B6BED}"/>
                </a:ext>
              </a:extLst>
            </p:cNvPr>
            <p:cNvSpPr/>
            <p:nvPr/>
          </p:nvSpPr>
          <p:spPr>
            <a:xfrm>
              <a:off x="5888736" y="3639312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Shape 97">
              <a:extLst>
                <a:ext uri="{FF2B5EF4-FFF2-40B4-BE49-F238E27FC236}">
                  <a16:creationId xmlns:a16="http://schemas.microsoft.com/office/drawing/2014/main" id="{71F14182-DC16-8F68-FF51-E8E938A7D92D}"/>
                </a:ext>
              </a:extLst>
            </p:cNvPr>
            <p:cNvSpPr/>
            <p:nvPr/>
          </p:nvSpPr>
          <p:spPr>
            <a:xfrm>
              <a:off x="5888736" y="3730752"/>
              <a:ext cx="146304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A30A6641-3CD1-228A-7D7B-C39A4FE2AE67}"/>
              </a:ext>
            </a:extLst>
          </p:cNvPr>
          <p:cNvGrpSpPr/>
          <p:nvPr/>
        </p:nvGrpSpPr>
        <p:grpSpPr>
          <a:xfrm>
            <a:off x="3356912" y="3115520"/>
            <a:ext cx="530352" cy="530352"/>
            <a:chOff x="5623560" y="3310128"/>
            <a:chExt cx="530352" cy="530352"/>
          </a:xfrm>
        </p:grpSpPr>
        <p:sp>
          <p:nvSpPr>
            <p:cNvPr id="202" name="Shape 86">
              <a:extLst>
                <a:ext uri="{FF2B5EF4-FFF2-40B4-BE49-F238E27FC236}">
                  <a16:creationId xmlns:a16="http://schemas.microsoft.com/office/drawing/2014/main" id="{0062E960-9B05-CF96-5772-6149E7D70AED}"/>
                </a:ext>
              </a:extLst>
            </p:cNvPr>
            <p:cNvSpPr/>
            <p:nvPr/>
          </p:nvSpPr>
          <p:spPr>
            <a:xfrm>
              <a:off x="5623560" y="3310128"/>
              <a:ext cx="310896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A6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3" name="Shape 87">
              <a:extLst>
                <a:ext uri="{FF2B5EF4-FFF2-40B4-BE49-F238E27FC236}">
                  <a16:creationId xmlns:a16="http://schemas.microsoft.com/office/drawing/2014/main" id="{0DDC2DD3-7369-5D4E-DDFE-9B8E44D7B841}"/>
                </a:ext>
              </a:extLst>
            </p:cNvPr>
            <p:cNvSpPr/>
            <p:nvPr/>
          </p:nvSpPr>
          <p:spPr>
            <a:xfrm>
              <a:off x="5669280" y="3401568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" name="Shape 88">
              <a:extLst>
                <a:ext uri="{FF2B5EF4-FFF2-40B4-BE49-F238E27FC236}">
                  <a16:creationId xmlns:a16="http://schemas.microsoft.com/office/drawing/2014/main" id="{885D1CF4-EF0A-0DDE-B711-A45A87DC6F99}"/>
                </a:ext>
              </a:extLst>
            </p:cNvPr>
            <p:cNvSpPr/>
            <p:nvPr/>
          </p:nvSpPr>
          <p:spPr>
            <a:xfrm>
              <a:off x="5669280" y="3493008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Shape 89">
              <a:extLst>
                <a:ext uri="{FF2B5EF4-FFF2-40B4-BE49-F238E27FC236}">
                  <a16:creationId xmlns:a16="http://schemas.microsoft.com/office/drawing/2014/main" id="{19F88328-3389-619E-3798-90CD46DAA3A8}"/>
                </a:ext>
              </a:extLst>
            </p:cNvPr>
            <p:cNvSpPr/>
            <p:nvPr/>
          </p:nvSpPr>
          <p:spPr>
            <a:xfrm>
              <a:off x="5669280" y="3584448"/>
              <a:ext cx="146304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" name="Shape 90">
              <a:extLst>
                <a:ext uri="{FF2B5EF4-FFF2-40B4-BE49-F238E27FC236}">
                  <a16:creationId xmlns:a16="http://schemas.microsoft.com/office/drawing/2014/main" id="{14C2AB07-C8FB-DC07-B9C8-C880544DD9F8}"/>
                </a:ext>
              </a:extLst>
            </p:cNvPr>
            <p:cNvSpPr/>
            <p:nvPr/>
          </p:nvSpPr>
          <p:spPr>
            <a:xfrm>
              <a:off x="5733288" y="3383280"/>
              <a:ext cx="310896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3CB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7" name="Shape 91">
              <a:extLst>
                <a:ext uri="{FF2B5EF4-FFF2-40B4-BE49-F238E27FC236}">
                  <a16:creationId xmlns:a16="http://schemas.microsoft.com/office/drawing/2014/main" id="{E0A19056-4BE6-B4C2-1B9C-88A1596F2D01}"/>
                </a:ext>
              </a:extLst>
            </p:cNvPr>
            <p:cNvSpPr/>
            <p:nvPr/>
          </p:nvSpPr>
          <p:spPr>
            <a:xfrm>
              <a:off x="5779008" y="3474720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8" name="Shape 92">
              <a:extLst>
                <a:ext uri="{FF2B5EF4-FFF2-40B4-BE49-F238E27FC236}">
                  <a16:creationId xmlns:a16="http://schemas.microsoft.com/office/drawing/2014/main" id="{C5FEFF30-0818-0150-AE2D-C895E650598E}"/>
                </a:ext>
              </a:extLst>
            </p:cNvPr>
            <p:cNvSpPr/>
            <p:nvPr/>
          </p:nvSpPr>
          <p:spPr>
            <a:xfrm>
              <a:off x="5779008" y="3566160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Shape 93">
              <a:extLst>
                <a:ext uri="{FF2B5EF4-FFF2-40B4-BE49-F238E27FC236}">
                  <a16:creationId xmlns:a16="http://schemas.microsoft.com/office/drawing/2014/main" id="{EE7BFD9A-ECD3-1FC0-92ED-4D492C1E0AB2}"/>
                </a:ext>
              </a:extLst>
            </p:cNvPr>
            <p:cNvSpPr/>
            <p:nvPr/>
          </p:nvSpPr>
          <p:spPr>
            <a:xfrm>
              <a:off x="5779008" y="3657600"/>
              <a:ext cx="146304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Shape 94">
              <a:extLst>
                <a:ext uri="{FF2B5EF4-FFF2-40B4-BE49-F238E27FC236}">
                  <a16:creationId xmlns:a16="http://schemas.microsoft.com/office/drawing/2014/main" id="{80388357-4DCD-B20C-79B5-5ACD11FD1316}"/>
                </a:ext>
              </a:extLst>
            </p:cNvPr>
            <p:cNvSpPr/>
            <p:nvPr/>
          </p:nvSpPr>
          <p:spPr>
            <a:xfrm>
              <a:off x="5843016" y="3456432"/>
              <a:ext cx="310896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F71C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Shape 95">
              <a:extLst>
                <a:ext uri="{FF2B5EF4-FFF2-40B4-BE49-F238E27FC236}">
                  <a16:creationId xmlns:a16="http://schemas.microsoft.com/office/drawing/2014/main" id="{D5267BB9-1D1D-AB0F-66EE-8CC2A3C9120B}"/>
                </a:ext>
              </a:extLst>
            </p:cNvPr>
            <p:cNvSpPr/>
            <p:nvPr/>
          </p:nvSpPr>
          <p:spPr>
            <a:xfrm>
              <a:off x="5888736" y="3547872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" name="Shape 96">
              <a:extLst>
                <a:ext uri="{FF2B5EF4-FFF2-40B4-BE49-F238E27FC236}">
                  <a16:creationId xmlns:a16="http://schemas.microsoft.com/office/drawing/2014/main" id="{269C33A9-3046-E324-7A62-FAD0F91B565E}"/>
                </a:ext>
              </a:extLst>
            </p:cNvPr>
            <p:cNvSpPr/>
            <p:nvPr/>
          </p:nvSpPr>
          <p:spPr>
            <a:xfrm>
              <a:off x="5888736" y="3639312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Shape 97">
              <a:extLst>
                <a:ext uri="{FF2B5EF4-FFF2-40B4-BE49-F238E27FC236}">
                  <a16:creationId xmlns:a16="http://schemas.microsoft.com/office/drawing/2014/main" id="{2F2D0835-76C4-135D-B8A9-CAA011D9642F}"/>
                </a:ext>
              </a:extLst>
            </p:cNvPr>
            <p:cNvSpPr/>
            <p:nvPr/>
          </p:nvSpPr>
          <p:spPr>
            <a:xfrm>
              <a:off x="5888736" y="3730752"/>
              <a:ext cx="146304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98FBF190-2808-CF78-8582-C873BB544908}"/>
              </a:ext>
            </a:extLst>
          </p:cNvPr>
          <p:cNvGrpSpPr/>
          <p:nvPr/>
        </p:nvGrpSpPr>
        <p:grpSpPr>
          <a:xfrm>
            <a:off x="939712" y="3116773"/>
            <a:ext cx="530352" cy="530352"/>
            <a:chOff x="1234440" y="3310128"/>
            <a:chExt cx="530352" cy="530352"/>
          </a:xfrm>
        </p:grpSpPr>
        <p:sp>
          <p:nvSpPr>
            <p:cNvPr id="215" name="Shape 60">
              <a:extLst>
                <a:ext uri="{FF2B5EF4-FFF2-40B4-BE49-F238E27FC236}">
                  <a16:creationId xmlns:a16="http://schemas.microsoft.com/office/drawing/2014/main" id="{9C2C81D1-83EF-491D-762E-B56DC81C3655}"/>
                </a:ext>
              </a:extLst>
            </p:cNvPr>
            <p:cNvSpPr/>
            <p:nvPr/>
          </p:nvSpPr>
          <p:spPr>
            <a:xfrm>
              <a:off x="1234440" y="3310128"/>
              <a:ext cx="310896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A6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" name="Shape 61">
              <a:extLst>
                <a:ext uri="{FF2B5EF4-FFF2-40B4-BE49-F238E27FC236}">
                  <a16:creationId xmlns:a16="http://schemas.microsoft.com/office/drawing/2014/main" id="{6A3462B3-BC17-EC1B-E9B0-0E53DAD08DD3}"/>
                </a:ext>
              </a:extLst>
            </p:cNvPr>
            <p:cNvSpPr/>
            <p:nvPr/>
          </p:nvSpPr>
          <p:spPr>
            <a:xfrm>
              <a:off x="1280160" y="3401568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" name="Shape 62">
              <a:extLst>
                <a:ext uri="{FF2B5EF4-FFF2-40B4-BE49-F238E27FC236}">
                  <a16:creationId xmlns:a16="http://schemas.microsoft.com/office/drawing/2014/main" id="{AF0E9E00-13BC-F69F-1F78-D84A3DC6944E}"/>
                </a:ext>
              </a:extLst>
            </p:cNvPr>
            <p:cNvSpPr/>
            <p:nvPr/>
          </p:nvSpPr>
          <p:spPr>
            <a:xfrm>
              <a:off x="1280160" y="3493008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" name="Shape 63">
              <a:extLst>
                <a:ext uri="{FF2B5EF4-FFF2-40B4-BE49-F238E27FC236}">
                  <a16:creationId xmlns:a16="http://schemas.microsoft.com/office/drawing/2014/main" id="{787D1385-C11D-D161-F80F-F24852E31447}"/>
                </a:ext>
              </a:extLst>
            </p:cNvPr>
            <p:cNvSpPr/>
            <p:nvPr/>
          </p:nvSpPr>
          <p:spPr>
            <a:xfrm>
              <a:off x="1280160" y="3584448"/>
              <a:ext cx="146304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" name="Shape 64">
              <a:extLst>
                <a:ext uri="{FF2B5EF4-FFF2-40B4-BE49-F238E27FC236}">
                  <a16:creationId xmlns:a16="http://schemas.microsoft.com/office/drawing/2014/main" id="{EDD9D313-ADCB-26EC-1698-8D003174395C}"/>
                </a:ext>
              </a:extLst>
            </p:cNvPr>
            <p:cNvSpPr/>
            <p:nvPr/>
          </p:nvSpPr>
          <p:spPr>
            <a:xfrm>
              <a:off x="1344168" y="3383280"/>
              <a:ext cx="310896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3CB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" name="Shape 65">
              <a:extLst>
                <a:ext uri="{FF2B5EF4-FFF2-40B4-BE49-F238E27FC236}">
                  <a16:creationId xmlns:a16="http://schemas.microsoft.com/office/drawing/2014/main" id="{7ECF56CA-0971-843E-BB4A-035D960D7476}"/>
                </a:ext>
              </a:extLst>
            </p:cNvPr>
            <p:cNvSpPr/>
            <p:nvPr/>
          </p:nvSpPr>
          <p:spPr>
            <a:xfrm>
              <a:off x="1389888" y="3474720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Shape 66">
              <a:extLst>
                <a:ext uri="{FF2B5EF4-FFF2-40B4-BE49-F238E27FC236}">
                  <a16:creationId xmlns:a16="http://schemas.microsoft.com/office/drawing/2014/main" id="{C12A8688-69FF-92E8-5B61-CF6F1AA753C2}"/>
                </a:ext>
              </a:extLst>
            </p:cNvPr>
            <p:cNvSpPr/>
            <p:nvPr/>
          </p:nvSpPr>
          <p:spPr>
            <a:xfrm>
              <a:off x="1389888" y="3566160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Shape 67">
              <a:extLst>
                <a:ext uri="{FF2B5EF4-FFF2-40B4-BE49-F238E27FC236}">
                  <a16:creationId xmlns:a16="http://schemas.microsoft.com/office/drawing/2014/main" id="{D5D7C1B9-E7E0-1850-39E8-2DED75E5A386}"/>
                </a:ext>
              </a:extLst>
            </p:cNvPr>
            <p:cNvSpPr/>
            <p:nvPr/>
          </p:nvSpPr>
          <p:spPr>
            <a:xfrm>
              <a:off x="1389888" y="3657600"/>
              <a:ext cx="146304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Shape 68">
              <a:extLst>
                <a:ext uri="{FF2B5EF4-FFF2-40B4-BE49-F238E27FC236}">
                  <a16:creationId xmlns:a16="http://schemas.microsoft.com/office/drawing/2014/main" id="{CE5BDA42-EDE0-0360-15FE-7DF77E877B6E}"/>
                </a:ext>
              </a:extLst>
            </p:cNvPr>
            <p:cNvSpPr/>
            <p:nvPr/>
          </p:nvSpPr>
          <p:spPr>
            <a:xfrm>
              <a:off x="1453896" y="3456432"/>
              <a:ext cx="310896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F71C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4" name="Shape 69">
              <a:extLst>
                <a:ext uri="{FF2B5EF4-FFF2-40B4-BE49-F238E27FC236}">
                  <a16:creationId xmlns:a16="http://schemas.microsoft.com/office/drawing/2014/main" id="{77103242-915B-562F-FD6C-571F94CD5653}"/>
                </a:ext>
              </a:extLst>
            </p:cNvPr>
            <p:cNvSpPr/>
            <p:nvPr/>
          </p:nvSpPr>
          <p:spPr>
            <a:xfrm>
              <a:off x="1499616" y="3547872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Shape 70">
              <a:extLst>
                <a:ext uri="{FF2B5EF4-FFF2-40B4-BE49-F238E27FC236}">
                  <a16:creationId xmlns:a16="http://schemas.microsoft.com/office/drawing/2014/main" id="{51C46D2A-A4DC-506C-C5A8-1F13AF88ECAA}"/>
                </a:ext>
              </a:extLst>
            </p:cNvPr>
            <p:cNvSpPr/>
            <p:nvPr/>
          </p:nvSpPr>
          <p:spPr>
            <a:xfrm>
              <a:off x="1499616" y="3639312"/>
              <a:ext cx="219456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6" name="Shape 71">
              <a:extLst>
                <a:ext uri="{FF2B5EF4-FFF2-40B4-BE49-F238E27FC236}">
                  <a16:creationId xmlns:a16="http://schemas.microsoft.com/office/drawing/2014/main" id="{31DCA3C6-3AB5-A23A-CC94-851123C47B00}"/>
                </a:ext>
              </a:extLst>
            </p:cNvPr>
            <p:cNvSpPr/>
            <p:nvPr/>
          </p:nvSpPr>
          <p:spPr>
            <a:xfrm>
              <a:off x="1499616" y="3730752"/>
              <a:ext cx="146304" cy="0"/>
            </a:xfrm>
            <a:prstGeom prst="line">
              <a:avLst/>
            </a:prstGeom>
            <a:noFill/>
            <a:ln w="9525">
              <a:solidFill>
                <a:srgbClr val="DCDCD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228" name="Connector: Elbow 227">
            <a:extLst>
              <a:ext uri="{FF2B5EF4-FFF2-40B4-BE49-F238E27FC236}">
                <a16:creationId xmlns:a16="http://schemas.microsoft.com/office/drawing/2014/main" id="{01A30A4F-3CA4-3EFC-FAAD-EC64EB6B36F3}"/>
              </a:ext>
            </a:extLst>
          </p:cNvPr>
          <p:cNvCxnSpPr>
            <a:cxnSpLocks/>
            <a:stCxn id="138" idx="2"/>
            <a:endCxn id="189" idx="0"/>
          </p:cNvCxnSpPr>
          <p:nvPr/>
        </p:nvCxnSpPr>
        <p:spPr>
          <a:xfrm rot="5400000">
            <a:off x="4171611" y="2841581"/>
            <a:ext cx="338341" cy="207598"/>
          </a:xfrm>
          <a:prstGeom prst="bentConnector3">
            <a:avLst>
              <a:gd name="adj1" fmla="val 50000"/>
            </a:avLst>
          </a:prstGeom>
          <a:noFill/>
          <a:ln w="15240">
            <a:solidFill>
              <a:srgbClr val="FFA600"/>
            </a:solidFill>
            <a:prstDash val="sysDot"/>
            <a:tailEnd type="triangle"/>
          </a:ln>
        </p:spPr>
      </p:cxnSp>
      <p:cxnSp>
        <p:nvCxnSpPr>
          <p:cNvPr id="231" name="Connector: Elbow 230">
            <a:extLst>
              <a:ext uri="{FF2B5EF4-FFF2-40B4-BE49-F238E27FC236}">
                <a16:creationId xmlns:a16="http://schemas.microsoft.com/office/drawing/2014/main" id="{259EADC6-210E-44CD-56D1-E1BF2E698D00}"/>
              </a:ext>
            </a:extLst>
          </p:cNvPr>
          <p:cNvCxnSpPr>
            <a:cxnSpLocks/>
            <a:stCxn id="136" idx="2"/>
            <a:endCxn id="202" idx="0"/>
          </p:cNvCxnSpPr>
          <p:nvPr/>
        </p:nvCxnSpPr>
        <p:spPr>
          <a:xfrm rot="5400000">
            <a:off x="3375960" y="2916176"/>
            <a:ext cx="335744" cy="62944"/>
          </a:xfrm>
          <a:prstGeom prst="bentConnector3">
            <a:avLst>
              <a:gd name="adj1" fmla="val 50000"/>
            </a:avLst>
          </a:prstGeom>
          <a:noFill/>
          <a:ln w="15240">
            <a:solidFill>
              <a:srgbClr val="FFA600"/>
            </a:solidFill>
            <a:prstDash val="sysDot"/>
            <a:tailEnd type="triangle"/>
          </a:ln>
        </p:spPr>
      </p:cxnSp>
      <p:cxnSp>
        <p:nvCxnSpPr>
          <p:cNvPr id="234" name="Connector: Elbow 233">
            <a:extLst>
              <a:ext uri="{FF2B5EF4-FFF2-40B4-BE49-F238E27FC236}">
                <a16:creationId xmlns:a16="http://schemas.microsoft.com/office/drawing/2014/main" id="{3279067A-780B-14DC-D18B-2BE247A49874}"/>
              </a:ext>
            </a:extLst>
          </p:cNvPr>
          <p:cNvCxnSpPr>
            <a:cxnSpLocks/>
            <a:stCxn id="177" idx="2"/>
            <a:endCxn id="75" idx="0"/>
          </p:cNvCxnSpPr>
          <p:nvPr/>
        </p:nvCxnSpPr>
        <p:spPr>
          <a:xfrm rot="5400000">
            <a:off x="2593352" y="2891402"/>
            <a:ext cx="317080" cy="128918"/>
          </a:xfrm>
          <a:prstGeom prst="bentConnector3">
            <a:avLst>
              <a:gd name="adj1" fmla="val 50000"/>
            </a:avLst>
          </a:prstGeom>
          <a:noFill/>
          <a:ln w="15240">
            <a:solidFill>
              <a:srgbClr val="FFA600"/>
            </a:solidFill>
            <a:prstDash val="sysDot"/>
            <a:tailEnd type="triangle"/>
          </a:ln>
        </p:spPr>
      </p:cxnSp>
      <p:cxnSp>
        <p:nvCxnSpPr>
          <p:cNvPr id="237" name="Connector: Elbow 236">
            <a:extLst>
              <a:ext uri="{FF2B5EF4-FFF2-40B4-BE49-F238E27FC236}">
                <a16:creationId xmlns:a16="http://schemas.microsoft.com/office/drawing/2014/main" id="{B99D8F86-C613-BEC2-A2D5-642FD25B0391}"/>
              </a:ext>
            </a:extLst>
          </p:cNvPr>
          <p:cNvCxnSpPr>
            <a:cxnSpLocks/>
            <a:stCxn id="54" idx="2"/>
            <a:endCxn id="62" idx="0"/>
          </p:cNvCxnSpPr>
          <p:nvPr/>
        </p:nvCxnSpPr>
        <p:spPr>
          <a:xfrm rot="16200000" flipH="1">
            <a:off x="1677741" y="2928880"/>
            <a:ext cx="327854" cy="44025"/>
          </a:xfrm>
          <a:prstGeom prst="bentConnector3">
            <a:avLst>
              <a:gd name="adj1" fmla="val 50000"/>
            </a:avLst>
          </a:prstGeom>
          <a:noFill/>
          <a:ln w="15240">
            <a:solidFill>
              <a:srgbClr val="FFA600"/>
            </a:solidFill>
            <a:prstDash val="sysDot"/>
            <a:tailEnd type="triangle"/>
          </a:ln>
        </p:spPr>
      </p:cxnSp>
      <p:cxnSp>
        <p:nvCxnSpPr>
          <p:cNvPr id="240" name="Connector: Elbow 239">
            <a:extLst>
              <a:ext uri="{FF2B5EF4-FFF2-40B4-BE49-F238E27FC236}">
                <a16:creationId xmlns:a16="http://schemas.microsoft.com/office/drawing/2014/main" id="{BA4C240A-4297-B62F-2820-2F354CFE965E}"/>
              </a:ext>
            </a:extLst>
          </p:cNvPr>
          <p:cNvCxnSpPr>
            <a:cxnSpLocks/>
            <a:stCxn id="175" idx="2"/>
            <a:endCxn id="215" idx="0"/>
          </p:cNvCxnSpPr>
          <p:nvPr/>
        </p:nvCxnSpPr>
        <p:spPr>
          <a:xfrm rot="16200000" flipH="1">
            <a:off x="779078" y="2800691"/>
            <a:ext cx="319452" cy="312711"/>
          </a:xfrm>
          <a:prstGeom prst="bentConnector3">
            <a:avLst>
              <a:gd name="adj1" fmla="val 50000"/>
            </a:avLst>
          </a:prstGeom>
          <a:noFill/>
          <a:ln w="15240">
            <a:solidFill>
              <a:srgbClr val="FFA600"/>
            </a:solidFill>
            <a:prstDash val="sysDot"/>
            <a:tailEnd type="triangle"/>
          </a:ln>
        </p:spPr>
      </p:cxnSp>
      <p:cxnSp>
        <p:nvCxnSpPr>
          <p:cNvPr id="247" name="Connector: Elbow 246">
            <a:extLst>
              <a:ext uri="{FF2B5EF4-FFF2-40B4-BE49-F238E27FC236}">
                <a16:creationId xmlns:a16="http://schemas.microsoft.com/office/drawing/2014/main" id="{6C38AE0F-5A64-1F90-C62A-8254D9ED5A57}"/>
              </a:ext>
            </a:extLst>
          </p:cNvPr>
          <p:cNvCxnSpPr>
            <a:cxnSpLocks/>
            <a:stCxn id="47" idx="1"/>
            <a:endCxn id="175" idx="2"/>
          </p:cNvCxnSpPr>
          <p:nvPr/>
        </p:nvCxnSpPr>
        <p:spPr>
          <a:xfrm rot="10800000">
            <a:off x="782449" y="2797321"/>
            <a:ext cx="6655442" cy="1506700"/>
          </a:xfrm>
          <a:prstGeom prst="bentConnector2">
            <a:avLst/>
          </a:prstGeom>
          <a:noFill/>
          <a:ln w="16510">
            <a:solidFill>
              <a:srgbClr val="B3CB2D"/>
            </a:solidFill>
            <a:prstDash val="dash"/>
            <a:tailEnd type="triangle"/>
          </a:ln>
        </p:spPr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61C24C71-3C8B-3FA3-1BE8-487770AC654C}"/>
              </a:ext>
            </a:extLst>
          </p:cNvPr>
          <p:cNvCxnSpPr>
            <a:cxnSpLocks/>
            <a:stCxn id="223" idx="2"/>
          </p:cNvCxnSpPr>
          <p:nvPr/>
        </p:nvCxnSpPr>
        <p:spPr>
          <a:xfrm>
            <a:off x="1314616" y="3647125"/>
            <a:ext cx="0" cy="194609"/>
          </a:xfrm>
          <a:prstGeom prst="straightConnector1">
            <a:avLst/>
          </a:prstGeom>
          <a:noFill/>
          <a:ln w="15240">
            <a:solidFill>
              <a:srgbClr val="FFA600"/>
            </a:solidFill>
            <a:prstDash val="sysDot"/>
            <a:tailEnd type="triangle"/>
          </a:ln>
        </p:spPr>
      </p:cxn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F96B4FA2-1125-87F3-BA54-89917D046D9D}"/>
              </a:ext>
            </a:extLst>
          </p:cNvPr>
          <p:cNvCxnSpPr>
            <a:cxnSpLocks/>
          </p:cNvCxnSpPr>
          <p:nvPr/>
        </p:nvCxnSpPr>
        <p:spPr>
          <a:xfrm>
            <a:off x="2088453" y="3666359"/>
            <a:ext cx="0" cy="194609"/>
          </a:xfrm>
          <a:prstGeom prst="straightConnector1">
            <a:avLst/>
          </a:prstGeom>
          <a:noFill/>
          <a:ln w="15240">
            <a:solidFill>
              <a:srgbClr val="FFA600"/>
            </a:solidFill>
            <a:prstDash val="sysDot"/>
            <a:tailEnd type="triangle"/>
          </a:ln>
        </p:spPr>
      </p:cxnSp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4AD1EEFB-2DE2-6B20-4001-C69FD3984ACA}"/>
              </a:ext>
            </a:extLst>
          </p:cNvPr>
          <p:cNvCxnSpPr>
            <a:cxnSpLocks/>
          </p:cNvCxnSpPr>
          <p:nvPr/>
        </p:nvCxnSpPr>
        <p:spPr>
          <a:xfrm>
            <a:off x="2915556" y="3676713"/>
            <a:ext cx="0" cy="194609"/>
          </a:xfrm>
          <a:prstGeom prst="straightConnector1">
            <a:avLst/>
          </a:prstGeom>
          <a:noFill/>
          <a:ln w="15240">
            <a:solidFill>
              <a:srgbClr val="FFA600"/>
            </a:solidFill>
            <a:prstDash val="sysDot"/>
            <a:tailEnd type="triangle"/>
          </a:ln>
        </p:spPr>
      </p:cxn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D451A065-C3D6-7FC2-9BE8-EB7326920C95}"/>
              </a:ext>
            </a:extLst>
          </p:cNvPr>
          <p:cNvCxnSpPr>
            <a:cxnSpLocks/>
          </p:cNvCxnSpPr>
          <p:nvPr/>
        </p:nvCxnSpPr>
        <p:spPr>
          <a:xfrm>
            <a:off x="3724906" y="3651560"/>
            <a:ext cx="0" cy="194609"/>
          </a:xfrm>
          <a:prstGeom prst="straightConnector1">
            <a:avLst/>
          </a:prstGeom>
          <a:noFill/>
          <a:ln w="15240">
            <a:solidFill>
              <a:srgbClr val="FFA600"/>
            </a:solidFill>
            <a:prstDash val="sysDot"/>
            <a:tailEnd type="triangle"/>
          </a:ln>
        </p:spPr>
      </p:cxn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770E70C5-8EA8-6F3B-80FD-5DC18FDDA03D}"/>
              </a:ext>
            </a:extLst>
          </p:cNvPr>
          <p:cNvCxnSpPr>
            <a:cxnSpLocks/>
          </p:cNvCxnSpPr>
          <p:nvPr/>
        </p:nvCxnSpPr>
        <p:spPr>
          <a:xfrm>
            <a:off x="4454355" y="3670794"/>
            <a:ext cx="0" cy="194609"/>
          </a:xfrm>
          <a:prstGeom prst="straightConnector1">
            <a:avLst/>
          </a:prstGeom>
          <a:noFill/>
          <a:ln w="15240">
            <a:solidFill>
              <a:srgbClr val="FFA600"/>
            </a:solidFill>
            <a:prstDash val="sysDot"/>
            <a:tailEnd type="triangle"/>
          </a:ln>
        </p:spPr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4FB1F275-513E-9283-4055-352DCAAEC5BB}"/>
              </a:ext>
            </a:extLst>
          </p:cNvPr>
          <p:cNvCxnSpPr>
            <a:cxnSpLocks/>
          </p:cNvCxnSpPr>
          <p:nvPr/>
        </p:nvCxnSpPr>
        <p:spPr>
          <a:xfrm>
            <a:off x="5103906" y="3663395"/>
            <a:ext cx="0" cy="194609"/>
          </a:xfrm>
          <a:prstGeom prst="straightConnector1">
            <a:avLst/>
          </a:prstGeom>
          <a:noFill/>
          <a:ln w="15240">
            <a:solidFill>
              <a:srgbClr val="FFA600"/>
            </a:solidFill>
            <a:prstDash val="sysDot"/>
            <a:tailEnd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Ichnos in the value chain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make ASEAN component and cell suppliers passport ready and connect them to their EU customers.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828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609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materials &amp; refining
</a:t>
            </a: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providers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2034540"/>
            <a:ext cx="219456" cy="0"/>
          </a:xfrm>
          <a:prstGeom prst="line">
            <a:avLst/>
          </a:prstGeom>
          <a:noFill/>
          <a:ln w="25400">
            <a:solidFill>
              <a:srgbClr val="0F71C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05456" y="150876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EAF1FE"/>
          </a:solidFill>
          <a:ln w="25400">
            <a:solidFill>
              <a:srgbClr val="0F7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15184" y="1508760"/>
            <a:ext cx="3072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ASEAN component &amp; cell manufacturing
</a:t>
            </a: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· electrodes · cells · modules · housings · electronics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97296" y="2034540"/>
            <a:ext cx="219456" cy="0"/>
          </a:xfrm>
          <a:prstGeom prst="line">
            <a:avLst/>
          </a:prstGeom>
          <a:noFill/>
          <a:ln w="25400">
            <a:solidFill>
              <a:srgbClr val="0F71C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016752" y="150876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1508760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pack &amp; EU importer / OEM
</a:t>
            </a: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operator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94192" y="2034540"/>
            <a:ext cx="219456" cy="0"/>
          </a:xfrm>
          <a:prstGeom prst="line">
            <a:avLst/>
          </a:prstGeom>
          <a:noFill/>
          <a:ln w="25400">
            <a:solidFill>
              <a:srgbClr val="0F71C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13648" y="1508760"/>
            <a:ext cx="21945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23376" y="1508760"/>
            <a:ext cx="1975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Passport &amp; identity services
</a:t>
            </a: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publishers · verification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54096" y="1197864"/>
            <a:ext cx="2194560" cy="256032"/>
          </a:xfrm>
          <a:prstGeom prst="rect">
            <a:avLst/>
          </a:prstGeom>
          <a:solidFill>
            <a:srgbClr val="0F71C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ICHNOS: core competence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35769" y="3337560"/>
            <a:ext cx="0" cy="0"/>
          </a:xfrm>
          <a:prstGeom prst="line">
            <a:avLst/>
          </a:prstGeom>
          <a:noFill/>
          <a:ln w="12700">
            <a:solidFill>
              <a:srgbClr val="0F7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04633" y="3063240"/>
            <a:ext cx="9784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3970">
            <a:solidFill>
              <a:srgbClr val="B3CB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33233" y="3063240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Catena-X connection &amp; digital twins:  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manage your registration and BPN with an onboarding partner, then set up the twin registry and the aspect models for your products and processes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35769" y="4178808"/>
            <a:ext cx="0" cy="0"/>
          </a:xfrm>
          <a:prstGeom prst="line">
            <a:avLst/>
          </a:prstGeom>
          <a:noFill/>
          <a:ln w="12700">
            <a:solidFill>
              <a:srgbClr val="0F7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4633" y="3904488"/>
            <a:ext cx="9784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3970">
            <a:solidFill>
              <a:srgbClr val="B3CB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33233" y="3904488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Passport data readiness:  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prepare the EDC data exchange so your LCA partner sets up the PCF digital twin of your components, with recycled content and due diligence data ready for verification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35769" y="5020056"/>
            <a:ext cx="0" cy="0"/>
          </a:xfrm>
          <a:prstGeom prst="line">
            <a:avLst/>
          </a:prstGeom>
          <a:noFill/>
          <a:ln w="12700">
            <a:solidFill>
              <a:srgbClr val="0F7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04633" y="4745736"/>
            <a:ext cx="9784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3970">
            <a:solidFill>
              <a:srgbClr val="B3CB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33233" y="474573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EU-hosted infrastructure, managed:  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 and twin hosting operated by Ichnos on EU servers. Your data stays sovereign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51376" y="2560320"/>
            <a:ext cx="0" cy="502920"/>
          </a:xfrm>
          <a:prstGeom prst="line">
            <a:avLst/>
          </a:prstGeom>
          <a:noFill/>
          <a:ln w="20320">
            <a:solidFill>
              <a:srgbClr val="0F71C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58978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in Singapore · on site across ASEAN · Catena-X member &amp; Qualified Advisor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421</Words>
  <Application>Microsoft Office PowerPoint</Application>
  <PresentationFormat>Widescreen</PresentationFormat>
  <Paragraphs>51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Francesco Maltoni</cp:lastModifiedBy>
  <cp:revision>5</cp:revision>
  <dcterms:created xsi:type="dcterms:W3CDTF">2026-08-12T08:41:18Z</dcterms:created>
  <dcterms:modified xsi:type="dcterms:W3CDTF">2026-08-12T10:34:47Z</dcterms:modified>
</cp:coreProperties>
</file>